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in the audience's world, not the tool's. The ratio — 10+ engineers into 2 QA — is the whole 'what is' in one line. Leave the four stat cards unexplained for now; they pay off at the close.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line is the shape of the argument: it moves between current and target state, and each move adds pressure. Say the thesis out loud here and again at the close — one idea, stated as a point of view with the stakes attached.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Establish what is, plainly and with no fix in sight. The ratio does the emotional work; the 10 engineer-hours does the analytical work. Resist offering the solution on this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point of this slide: the room has to accept that the obvious fixes are already exhausted. Pause after 'none of them held' — this is the moment they should want an answer.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pivot of the deck: one reframe, in a sentence the room can repeat afterwards. Everything after this slide is consequence, not argument.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first look at the target state. Show the artifact, then go straight to the ordering rule — a CTO reads ranking logic as risk management, not UI.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Contrast is the mechanism. Read each pair as a beat — what is, then what could be — and do not linger. The five passes are the engine of the middle act.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Analytical proof, placed immediately after the emotional turn. Both exhibits are unedited product screenshots — for a technical audience the artifact is the argument.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one image the room repeats afterwards. Say the line — 'no one triggered either one, and no machine involved was awake' — then stop talking for a beat and let it land.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 the CTO this is the slide that matters: the architecture is boring on purpose and reusable by design. Keep it to 60 seconds — the pattern, not the plumbing.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Describe the end state in their terms — their release risk, their ramp time, their meetings — never the builder's. Hand the win to the room.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End on one action, stated as a decision someone in this room can actually make. Repeat the thesis as the last sentence, then stop — no summary slide after this 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3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20624"/>
            <a:ext cx="1082009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70" kern="0" dirty="0">
                <a:solidFill>
                  <a:srgbClr val="9A93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NOVA QA ENGINEERING  ·  CASE STUDY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245352"/>
            <a:ext cx="98142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57B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state, what replaced it, and the one decision that closes the last gap.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10500055" y="624535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57B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/ 12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298448"/>
            <a:ext cx="841248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4300" b="1" spc="-8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Handoff That</a:t>
            </a:r>
            <a:endParaRPr lang="en-US" sz="43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4300" b="1" spc="-8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Needs No One Awake</a:t>
            </a:r>
            <a:endParaRPr lang="en-US" sz="43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321868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AAFB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QA → Production Handoff Dashboard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3584448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80" kern="0" dirty="0">
                <a:solidFill>
                  <a:srgbClr val="757B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AMANDA CHAN   ·   POWER DIGITAL MARKETING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85800" y="4370832"/>
            <a:ext cx="10820095" cy="0"/>
          </a:xfrm>
          <a:prstGeom prst="line">
            <a:avLst/>
          </a:prstGeom>
          <a:noFill/>
          <a:ln w="9525">
            <a:solidFill>
              <a:srgbClr val="31343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85800" y="4681728"/>
            <a:ext cx="25191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spc="-6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10+ : 2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5175504"/>
            <a:ext cx="25191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000" dirty="0">
                <a:solidFill>
                  <a:srgbClr val="757B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engineers pushing work vs. QA engineers clearing it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3452774" y="4681728"/>
            <a:ext cx="25191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spc="-6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 hr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3452774" y="5175504"/>
            <a:ext cx="25191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000" dirty="0">
                <a:solidFill>
                  <a:srgbClr val="757B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manual triage at every shift start — removed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6219749" y="4681728"/>
            <a:ext cx="25191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spc="-6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× day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6219749" y="5175504"/>
            <a:ext cx="25191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000" dirty="0">
                <a:solidFill>
                  <a:srgbClr val="757B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07:00 &amp; 19:00 UTC, zero manual steps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8986723" y="4681728"/>
            <a:ext cx="25191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spc="-6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 sec</a:t>
            </a:r>
            <a:endParaRPr lang="en-US" sz="2400" dirty="0"/>
          </a:p>
        </p:txBody>
      </p:sp>
      <p:sp>
        <p:nvSpPr>
          <p:cNvPr id="16" name="Text 14"/>
          <p:cNvSpPr txBox="1"/>
          <p:nvPr/>
        </p:nvSpPr>
        <p:spPr>
          <a:xfrm>
            <a:off x="8986723" y="5175504"/>
            <a:ext cx="25191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000" dirty="0">
                <a:solidFill>
                  <a:srgbClr val="757B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read the whole state of the pipeline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20624"/>
            <a:ext cx="1082009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70" kern="0" dirty="0">
                <a:solidFill>
                  <a:srgbClr val="5B52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OVERVIEW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749808"/>
            <a:ext cx="108200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700" b="1" spc="-30" kern="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Thesis and What Is at Stake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6245352"/>
            <a:ext cx="98142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1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section that follows is one step from current state to target state.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500055" y="624535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B91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/ 12</a:t>
            </a:r>
            <a:endParaRPr lang="en-US" sz="85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1691640"/>
            <a:ext cx="5943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70" kern="0" dirty="0">
                <a:solidFill>
                  <a:srgbClr val="5B52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THESIS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020824"/>
            <a:ext cx="5943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4A4F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Cross-time-zone handoff was never a communication problem. It is a delivery problem — and once it is treated as one, coordination stops costing anyone a shared working hour.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949440" y="1691640"/>
            <a:ext cx="45537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70" kern="0" dirty="0">
                <a:solidFill>
                  <a:srgbClr val="5B52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AT STAKE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6949440" y="2020824"/>
            <a:ext cx="455371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4A4F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Release velocity and regression escapes in every multi-shift team we run. QA is only where it showed first.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3401568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70" kern="0" dirty="0">
                <a:solidFill>
                  <a:srgbClr val="8B91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STATE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7848295" y="3401568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170" kern="0" dirty="0">
                <a:solidFill>
                  <a:srgbClr val="8B91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STATE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85800" y="3712464"/>
            <a:ext cx="10820095" cy="0"/>
          </a:xfrm>
          <a:prstGeom prst="line">
            <a:avLst/>
          </a:prstGeom>
          <a:noFill/>
          <a:ln w="9525">
            <a:solidFill>
              <a:srgbClr val="E5E7E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85800" y="3950208"/>
            <a:ext cx="3454603" cy="1481328"/>
          </a:xfrm>
          <a:prstGeom prst="rect">
            <a:avLst/>
          </a:prstGeom>
          <a:solidFill>
            <a:srgbClr val="F7F8F9"/>
          </a:solidFill>
          <a:ln w="9525">
            <a:solidFill>
              <a:srgbClr val="E5E7E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78408" y="4169664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5B52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978408" y="4645152"/>
            <a:ext cx="286938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Constraint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978408" y="4956048"/>
            <a:ext cx="286938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4A4F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earlier fixes failed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369003" y="3950208"/>
            <a:ext cx="3454603" cy="1481328"/>
          </a:xfrm>
          <a:prstGeom prst="rect">
            <a:avLst/>
          </a:prstGeom>
          <a:solidFill>
            <a:srgbClr val="F7F8F9"/>
          </a:solidFill>
          <a:ln w="9525">
            <a:solidFill>
              <a:srgbClr val="E5E7E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661611" y="4169664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5B52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19" name="Text 17"/>
          <p:cNvSpPr txBox="1"/>
          <p:nvPr/>
        </p:nvSpPr>
        <p:spPr>
          <a:xfrm>
            <a:off x="4661611" y="4645152"/>
            <a:ext cx="286938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4661611" y="4956048"/>
            <a:ext cx="286938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4A4F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replaced them, with proof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8052206" y="3950208"/>
            <a:ext cx="3454603" cy="1481328"/>
          </a:xfrm>
          <a:prstGeom prst="rect">
            <a:avLst/>
          </a:prstGeom>
          <a:solidFill>
            <a:srgbClr val="F7F8F9"/>
          </a:solidFill>
          <a:ln w="9525">
            <a:solidFill>
              <a:srgbClr val="E5E7EA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344814" y="4169664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5B52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23" name="Text 21"/>
          <p:cNvSpPr txBox="1"/>
          <p:nvPr/>
        </p:nvSpPr>
        <p:spPr>
          <a:xfrm>
            <a:off x="8344814" y="4645152"/>
            <a:ext cx="286938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8344814" y="4956048"/>
            <a:ext cx="286938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4A4F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 and the one decision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20624"/>
            <a:ext cx="1082009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70" kern="0" dirty="0">
                <a:solidFill>
                  <a:srgbClr val="5B52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CONSTRAINT  ·  CURRENT STATE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749808"/>
            <a:ext cx="108200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700" b="1" spc="-30" kern="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Pipeline Fed Faster Than It Can Be Cleared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6245352"/>
            <a:ext cx="98142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1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Derived from the case study: ~1 hour of manual triage × 2 shifts × 5 days.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500055" y="624535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B91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/ 12</a:t>
            </a:r>
            <a:endParaRPr lang="en-US" sz="85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169164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70" kern="0" dirty="0">
                <a:solidFill>
                  <a:srgbClr val="5B52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VOLUME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1975104"/>
            <a:ext cx="1920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spc="-120" kern="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10+</a:t>
            </a:r>
            <a:endParaRPr lang="en-US" sz="44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2724912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000" dirty="0">
                <a:solidFill>
                  <a:srgbClr val="8B91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engineers push work into one QA column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2724912" y="210312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8B91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3310128" y="1975104"/>
            <a:ext cx="2011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spc="-120" kern="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4400" dirty="0"/>
          </a:p>
        </p:txBody>
      </p:sp>
      <p:sp>
        <p:nvSpPr>
          <p:cNvPr id="11" name="Text 9"/>
          <p:cNvSpPr txBox="1"/>
          <p:nvPr/>
        </p:nvSpPr>
        <p:spPr>
          <a:xfrm>
            <a:off x="3310128" y="2724912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000" dirty="0">
                <a:solidFill>
                  <a:srgbClr val="8B91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QA engineers clear it, never at the same time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685800" y="3547872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4A4F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Tickets arrive faster than two people can clear them, so In QA floods.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6035040" y="1691640"/>
            <a:ext cx="54681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70" kern="0" dirty="0">
                <a:solidFill>
                  <a:srgbClr val="5B52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CONTEXT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6035040" y="2020824"/>
            <a:ext cx="546811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4A4F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Jira says a ticket is In QA. It does not say what changed, what to test, or how long it has waited.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035040" y="2907792"/>
            <a:ext cx="5468112" cy="0"/>
          </a:xfrm>
          <a:prstGeom prst="line">
            <a:avLst/>
          </a:prstGeom>
          <a:noFill/>
          <a:ln w="9525">
            <a:solidFill>
              <a:srgbClr val="E5E7E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035040" y="3108960"/>
            <a:ext cx="54681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70" kern="0" dirty="0">
                <a:solidFill>
                  <a:srgbClr val="5B52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MEMORY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6035040" y="3438144"/>
            <a:ext cx="546811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4A4F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shift rebuilt that picture by hand, and it went stale the moment they logged off.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85800" y="4553712"/>
            <a:ext cx="10820095" cy="1371600"/>
          </a:xfrm>
          <a:prstGeom prst="rect">
            <a:avLst/>
          </a:prstGeom>
          <a:solidFill>
            <a:srgbClr val="F7F8F9"/>
          </a:solidFill>
          <a:ln w="9525">
            <a:solidFill>
              <a:srgbClr val="E5E7EA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005840" y="5010912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spc="-60" kern="0" dirty="0">
                <a:solidFill>
                  <a:srgbClr val="5B52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 engineer-hours a week</a:t>
            </a:r>
            <a:endParaRPr lang="en-US" sz="2400" dirty="0"/>
          </a:p>
        </p:txBody>
      </p:sp>
      <p:sp>
        <p:nvSpPr>
          <p:cNvPr id="20" name="Text 18"/>
          <p:cNvSpPr txBox="1"/>
          <p:nvPr/>
        </p:nvSpPr>
        <p:spPr>
          <a:xfrm>
            <a:off x="5212080" y="5010912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spent reconstructing a state that already existed in the system.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20624"/>
            <a:ext cx="1082009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70" kern="0" dirty="0">
                <a:solidFill>
                  <a:srgbClr val="5B52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CONSTRAINT  ·  WHY EARLIER FIXES FAILED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749808"/>
            <a:ext cx="108200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700" b="1" spc="-30" kern="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Shared Hour Was Ever Available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6245352"/>
            <a:ext cx="98142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1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constraint is structural, not behavioural — which is why every process fix lapsed.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500055" y="624535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B91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/ 12</a:t>
            </a:r>
            <a:endParaRPr lang="en-US" sz="850" dirty="0"/>
          </a:p>
        </p:txBody>
      </p:sp>
      <p:pic>
        <p:nvPicPr>
          <p:cNvPr id="6" name="Image 0" descr="/home/user/nova-handoff/deck/assets/clo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572768"/>
            <a:ext cx="10820095" cy="2219249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85800" y="4114800"/>
            <a:ext cx="2834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spc="-100" kern="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h</a:t>
            </a:r>
            <a:endParaRPr lang="en-US" sz="400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4846320"/>
            <a:ext cx="2834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4A4F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how long anything one engineer learns at the end of a shift must survive before it reaches the other.</a:t>
            </a:r>
            <a:endParaRPr lang="en-U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4206240" y="4114800"/>
            <a:ext cx="7296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proposed fix asked for the same thing.</a:t>
            </a:r>
            <a:endParaRPr lang="en-US" sz="1700" dirty="0"/>
          </a:p>
        </p:txBody>
      </p:sp>
      <p:sp>
        <p:nvSpPr>
          <p:cNvPr id="10" name="Text 7"/>
          <p:cNvSpPr txBox="1"/>
          <p:nvPr/>
        </p:nvSpPr>
        <p:spPr>
          <a:xfrm>
            <a:off x="4206240" y="4498848"/>
            <a:ext cx="729691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A4F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standing sync, a forced overlap, someone's evening. A shared working hour the schedule would not give up — so none of them held.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213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20624"/>
            <a:ext cx="1082009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70" kern="0" dirty="0">
                <a:solidFill>
                  <a:srgbClr val="9A93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APPROACH  ·  THE REFRAME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0500055" y="624535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57B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 / 12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371600"/>
            <a:ext cx="96926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3400" b="1" spc="-70" kern="0" dirty="0">
                <a:solidFill>
                  <a:srgbClr val="757B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Stop solving it as a</a:t>
            </a:r>
            <a:endParaRPr lang="en-US" sz="340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3400" b="1" spc="-70" kern="0" dirty="0">
                <a:solidFill>
                  <a:srgbClr val="757B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communication problem.</a:t>
            </a:r>
            <a:endParaRPr lang="en-US" sz="340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3400" b="1" spc="-7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Solve it as a delivery problem.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3675888"/>
            <a:ext cx="8778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AAAFB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two shifts never needed to be awake together. They needed an artifact that is already current the moment each of them logs on.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85800" y="4572000"/>
            <a:ext cx="10820095" cy="0"/>
          </a:xfrm>
          <a:prstGeom prst="line">
            <a:avLst/>
          </a:prstGeom>
          <a:noFill/>
          <a:ln w="9525">
            <a:solidFill>
              <a:srgbClr val="31343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85800" y="4791456"/>
            <a:ext cx="5212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70" kern="0" dirty="0">
                <a:solidFill>
                  <a:srgbClr val="757B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COMMUNICATION FIX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5120640"/>
            <a:ext cx="5212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AAAFB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Asks for a shared hour the schedule will not give up. Lapses within a month.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6291072" y="4791456"/>
            <a:ext cx="5212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70" kern="0" dirty="0">
                <a:solidFill>
                  <a:srgbClr val="9A93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DELIVERY FIX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6291072" y="5120640"/>
            <a:ext cx="5212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AAAFB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Asks nothing of anyone. Runs whether or not we remember it exists.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20624"/>
            <a:ext cx="1082009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70" kern="0" dirty="0">
                <a:solidFill>
                  <a:srgbClr val="5B52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SOLUTION  ·  WHAT THE SHIFT RECEIVES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749808"/>
            <a:ext cx="6583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700" b="1" spc="-30" kern="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Incoming Shift Now Opens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6245352"/>
            <a:ext cx="98142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1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screen at 07:00 — changes, aging watch, module risk, test notes. Every item links back to Jira.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500055" y="624535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B91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 / 12</a:t>
            </a:r>
            <a:endParaRPr lang="en-US" sz="850" dirty="0"/>
          </a:p>
        </p:txBody>
      </p:sp>
      <p:pic>
        <p:nvPicPr>
          <p:cNvPr id="6" name="Image 0" descr="/home/user/nova-handoff/deck/assets/dash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52360" y="1627632"/>
            <a:ext cx="4050792" cy="384962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85800" y="1645920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1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questions the shift used to answer by hand — answered on arrival: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2048256"/>
            <a:ext cx="310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5B52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1069848" y="2048256"/>
            <a:ext cx="5715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15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moved in the last twelve hours.</a:t>
            </a:r>
            <a:endParaRPr lang="en-US" sz="1150" dirty="0"/>
          </a:p>
        </p:txBody>
      </p:sp>
      <p:sp>
        <p:nvSpPr>
          <p:cNvPr id="10" name="Text 7"/>
          <p:cNvSpPr txBox="1"/>
          <p:nvPr/>
        </p:nvSpPr>
        <p:spPr>
          <a:xfrm>
            <a:off x="685800" y="2551176"/>
            <a:ext cx="310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5B52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1069848" y="2551176"/>
            <a:ext cx="5715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15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tickets are stuck, and for how long.</a:t>
            </a:r>
            <a:endParaRPr lang="en-US" sz="1150" dirty="0"/>
          </a:p>
        </p:txBody>
      </p:sp>
      <p:sp>
        <p:nvSpPr>
          <p:cNvPr id="12" name="Text 9"/>
          <p:cNvSpPr txBox="1"/>
          <p:nvPr/>
        </p:nvSpPr>
        <p:spPr>
          <a:xfrm>
            <a:off x="685800" y="3054096"/>
            <a:ext cx="310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5B52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1069848" y="3054096"/>
            <a:ext cx="5715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15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tickets share a module and must be regression-tested together.</a:t>
            </a:r>
            <a:endParaRPr lang="en-US" sz="1150" dirty="0"/>
          </a:p>
        </p:txBody>
      </p:sp>
      <p:sp>
        <p:nvSpPr>
          <p:cNvPr id="14" name="Text 11"/>
          <p:cNvSpPr txBox="1"/>
          <p:nvPr/>
        </p:nvSpPr>
        <p:spPr>
          <a:xfrm>
            <a:off x="685800" y="3557016"/>
            <a:ext cx="310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5B52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1069848" y="3557016"/>
            <a:ext cx="5715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15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each ticket actually requires to test — the developer's Problem / Fix / How to verify, lifted out of the comment thread.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685800" y="4517136"/>
            <a:ext cx="6400800" cy="1207008"/>
          </a:xfrm>
          <a:prstGeom prst="rect">
            <a:avLst/>
          </a:prstGeom>
          <a:solidFill>
            <a:srgbClr val="F7F8F9"/>
          </a:solidFill>
          <a:ln w="9525">
            <a:solidFill>
              <a:srgbClr val="E5E7EA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960120" y="4718304"/>
            <a:ext cx="5852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70" kern="0" dirty="0">
                <a:solidFill>
                  <a:srgbClr val="5B52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ORDERING IS A DESIGN DECISION</a:t>
            </a:r>
            <a:endParaRPr lang="en-US" sz="900" dirty="0"/>
          </a:p>
        </p:txBody>
      </p:sp>
      <p:sp>
        <p:nvSpPr>
          <p:cNvPr id="18" name="Text 15"/>
          <p:cNvSpPr txBox="1"/>
          <p:nvPr/>
        </p:nvSpPr>
        <p:spPr>
          <a:xfrm>
            <a:off x="960120" y="4992624"/>
            <a:ext cx="5852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050" dirty="0">
                <a:solidFill>
                  <a:srgbClr val="4A4F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Tickets rank by time in QA, because a ticket sitting on Staging accumulates merge-conflict risk the longer it sits. Triaging by age is how builds get finished instead of reworked.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20624"/>
            <a:ext cx="1082009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70" kern="0" dirty="0">
                <a:solidFill>
                  <a:srgbClr val="5B52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AND AFTER  ·  FIVE GAPS CLOSED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749808"/>
            <a:ext cx="108200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700" b="1" spc="-30" kern="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and After, Gap by Gap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6245352"/>
            <a:ext cx="98142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1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gap above cost the team a full shift cycle. One artifact closes all five.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500055" y="624535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B91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 / 12</a:t>
            </a:r>
            <a:endParaRPr lang="en-US" sz="85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1572768"/>
            <a:ext cx="5212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70" kern="0" dirty="0">
                <a:solidFill>
                  <a:srgbClr val="8B91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6382512" y="1572768"/>
            <a:ext cx="5120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70" kern="0" dirty="0">
                <a:solidFill>
                  <a:srgbClr val="5B52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85800" y="1883664"/>
            <a:ext cx="10820095" cy="0"/>
          </a:xfrm>
          <a:prstGeom prst="line">
            <a:avLst/>
          </a:prstGeom>
          <a:noFill/>
          <a:ln w="9525">
            <a:solidFill>
              <a:srgbClr val="E5E7E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85800" y="2029968"/>
            <a:ext cx="5212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000" dirty="0">
                <a:solidFill>
                  <a:srgbClr val="4A4F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write-up sits six comments deep (NOVA-1747).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5870448" y="202996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52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382512" y="2029968"/>
            <a:ext cx="5120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0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arrives on the ticket. Testing starts in minutes, not after a triage pass.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85800" y="2706624"/>
            <a:ext cx="10820095" cy="0"/>
          </a:xfrm>
          <a:prstGeom prst="line">
            <a:avLst/>
          </a:prstGeom>
          <a:noFill/>
          <a:ln w="9525">
            <a:solidFill>
              <a:srgbClr val="E5E7E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85800" y="2852928"/>
            <a:ext cx="5212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000" dirty="0">
                <a:solidFill>
                  <a:srgbClr val="4A4F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end-of-day question waits a full lap. NOVA-1710 cycled In QA ↔ Back to Development for days — mostly clock, not effort.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5870448" y="28529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52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6382512" y="2852928"/>
            <a:ext cx="5120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0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questions lead the handoff and get answered on the next shift instead of the next loop.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85800" y="3529584"/>
            <a:ext cx="10820095" cy="0"/>
          </a:xfrm>
          <a:prstGeom prst="line">
            <a:avLst/>
          </a:prstGeom>
          <a:noFill/>
          <a:ln w="9525">
            <a:solidFill>
              <a:srgbClr val="E5E7E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85800" y="3675888"/>
            <a:ext cx="5212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000" dirty="0">
                <a:solidFill>
                  <a:srgbClr val="4A4F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Nothing tracked time in QA. One ticket held ~10 days on a request for testing details — a two-minute answer.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5870448" y="367588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52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6382512" y="3675888"/>
            <a:ext cx="5120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0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aging watch names the oldest tickets every 12 hours and flags them at two and three days.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85800" y="4352544"/>
            <a:ext cx="10820095" cy="0"/>
          </a:xfrm>
          <a:prstGeom prst="line">
            <a:avLst/>
          </a:prstGeom>
          <a:noFill/>
          <a:ln w="9525">
            <a:solidFill>
              <a:srgbClr val="E5E7E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85800" y="4498848"/>
            <a:ext cx="5212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000" dirty="0">
                <a:solidFill>
                  <a:srgbClr val="4A4F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shift ships a module while the other still holds related tickets. Nobody sees the overlap; regressions ship.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5870448" y="449884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52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6382512" y="4498848"/>
            <a:ext cx="5120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0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Shared-module tickets are flagged when they span stages. That flag is the regression test plan.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85800" y="5175504"/>
            <a:ext cx="10820095" cy="0"/>
          </a:xfrm>
          <a:prstGeom prst="line">
            <a:avLst/>
          </a:prstGeom>
          <a:noFill/>
          <a:ln w="9525">
            <a:solidFill>
              <a:srgbClr val="E5E7EA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85800" y="5321808"/>
            <a:ext cx="5212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000" dirty="0">
                <a:solidFill>
                  <a:srgbClr val="4A4F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report existed only if someone awake ran it.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5870448" y="532180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52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6382512" y="5321808"/>
            <a:ext cx="5120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0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posts at 07:00 and 19:00 UTC whether anyone is awake or not.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85800" y="5998464"/>
            <a:ext cx="10820095" cy="0"/>
          </a:xfrm>
          <a:prstGeom prst="line">
            <a:avLst/>
          </a:prstGeom>
          <a:noFill/>
          <a:ln w="9525">
            <a:solidFill>
              <a:srgbClr val="E5E7EA"/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20624"/>
            <a:ext cx="1082009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70" kern="0" dirty="0">
                <a:solidFill>
                  <a:srgbClr val="5B52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 ·  RELEASE RISK MADE VISIBLE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749808"/>
            <a:ext cx="108200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700" b="1" spc="-30" kern="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Stalls and Regression Risk, Named Every Twelve Hours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6245352"/>
            <a:ext cx="98142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1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a VP of Product: the tickets most likely to slip a release surface themselves before anyone goes looking for them.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500055" y="624535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B91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 / 12</a:t>
            </a:r>
            <a:endParaRPr lang="en-US" sz="850" dirty="0"/>
          </a:p>
        </p:txBody>
      </p:sp>
      <p:pic>
        <p:nvPicPr>
          <p:cNvPr id="6" name="Image 0" descr="/home/user/nova-handoff/deck/assets/aging-watc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08192" y="1572768"/>
            <a:ext cx="5394960" cy="2656332"/>
          </a:xfrm>
          <a:prstGeom prst="rect">
            <a:avLst/>
          </a:prstGeom>
        </p:spPr>
      </p:pic>
      <p:pic>
        <p:nvPicPr>
          <p:cNvPr id="7" name="Image 1" descr="/home/user/nova-handoff/deck/assets/module-ris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08192" y="4407408"/>
            <a:ext cx="5394960" cy="1613002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685800" y="1737360"/>
            <a:ext cx="4937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spc="-100" kern="0" dirty="0">
                <a:solidFill>
                  <a:srgbClr val="C956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27d 11h</a:t>
            </a:r>
            <a:endParaRPr lang="en-US" sz="4000" dirty="0"/>
          </a:p>
        </p:txBody>
      </p:sp>
      <p:sp>
        <p:nvSpPr>
          <p:cNvPr id="9" name="Text 5"/>
          <p:cNvSpPr txBox="1"/>
          <p:nvPr/>
        </p:nvSpPr>
        <p:spPr>
          <a:xfrm>
            <a:off x="685800" y="24688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4A4F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oldest ticket in QA — surfaced without anyone asking</a:t>
            </a:r>
            <a:endParaRPr lang="en-US" sz="1150" dirty="0"/>
          </a:p>
        </p:txBody>
      </p:sp>
      <p:sp>
        <p:nvSpPr>
          <p:cNvPr id="10" name="Shape 6"/>
          <p:cNvSpPr/>
          <p:nvPr/>
        </p:nvSpPr>
        <p:spPr>
          <a:xfrm>
            <a:off x="685800" y="3218688"/>
            <a:ext cx="4937760" cy="1755648"/>
          </a:xfrm>
          <a:prstGeom prst="rect">
            <a:avLst/>
          </a:prstGeom>
          <a:solidFill>
            <a:srgbClr val="F7F8F9"/>
          </a:solidFill>
          <a:ln w="9525">
            <a:solidFill>
              <a:srgbClr val="E5E7EA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960120" y="3438144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70" kern="0" dirty="0">
                <a:solidFill>
                  <a:srgbClr val="C956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RISK MODULE</a:t>
            </a:r>
            <a:endParaRPr lang="en-US" sz="900" dirty="0"/>
          </a:p>
        </p:txBody>
      </p:sp>
      <p:sp>
        <p:nvSpPr>
          <p:cNvPr id="12" name="Text 8"/>
          <p:cNvSpPr txBox="1"/>
          <p:nvPr/>
        </p:nvSpPr>
        <p:spPr>
          <a:xfrm>
            <a:off x="960120" y="3712464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Intelligence · Creative Reports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960120" y="4069080"/>
            <a:ext cx="4389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050" dirty="0">
                <a:solidFill>
                  <a:srgbClr val="4A4F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in QA · 1 Ready · 2 in Prod, at the same time. One module carrying tickets across three stages is where a regression escapes.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20624"/>
            <a:ext cx="1082009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70" kern="0" dirty="0">
                <a:solidFill>
                  <a:srgbClr val="5B52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AUTONOMOUS DELIVERY  ·  PROOF IN PRODUCTION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749808"/>
            <a:ext cx="6400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700" b="1" spc="-30" kern="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Neither of These Was Sent by a Person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6245352"/>
            <a:ext cx="98142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1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#qa-daily-reports — 25 Aug 16:11 UTC and 26 Aug 01:10 UTC, unattended.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10500055" y="624535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B91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 / 12</a:t>
            </a:r>
            <a:endParaRPr lang="en-US" sz="850" dirty="0"/>
          </a:p>
        </p:txBody>
      </p:sp>
      <p:pic>
        <p:nvPicPr>
          <p:cNvPr id="6" name="Image 0" descr="/home/user/nova-handoff/deck/assets/slack-handoff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56832" y="1609344"/>
            <a:ext cx="4846320" cy="389625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85800" y="1664208"/>
            <a:ext cx="5669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consecutive handoffs in #qa-daily-reports, twelve hours apart. No one triggered either one, and no machine involved was awake.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85800" y="2926080"/>
            <a:ext cx="5669280" cy="0"/>
          </a:xfrm>
          <a:prstGeom prst="line">
            <a:avLst/>
          </a:prstGeom>
          <a:noFill/>
          <a:ln w="9525">
            <a:solidFill>
              <a:srgbClr val="E5E7EA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85800" y="3127248"/>
            <a:ext cx="5669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70" kern="0" dirty="0">
                <a:solidFill>
                  <a:srgbClr val="5B52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AUTONOMY IS THE LOAD-BEARING PART</a:t>
            </a:r>
            <a:endParaRPr lang="en-U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685800" y="3456432"/>
            <a:ext cx="5669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4A4F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Autonomy is what makes the other four gains count. A lens that works only sometimes is a lens the shift stops opening.</a:t>
            </a:r>
            <a:endParaRPr lang="en-US" sz="1150" dirty="0"/>
          </a:p>
        </p:txBody>
      </p:sp>
      <p:sp>
        <p:nvSpPr>
          <p:cNvPr id="11" name="Text 8"/>
          <p:cNvSpPr txBox="1"/>
          <p:nvPr/>
        </p:nvSpPr>
        <p:spPr>
          <a:xfrm>
            <a:off x="685800" y="4626864"/>
            <a:ext cx="1764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spc="-60" kern="0" dirty="0">
                <a:solidFill>
                  <a:srgbClr val="5B52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3000" dirty="0"/>
          </a:p>
        </p:txBody>
      </p:sp>
      <p:sp>
        <p:nvSpPr>
          <p:cNvPr id="12" name="Text 9"/>
          <p:cNvSpPr txBox="1"/>
          <p:nvPr/>
        </p:nvSpPr>
        <p:spPr>
          <a:xfrm>
            <a:off x="685800" y="5120640"/>
            <a:ext cx="1764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000" dirty="0">
                <a:solidFill>
                  <a:srgbClr val="8B91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steps per cycle</a:t>
            </a:r>
            <a:endParaRPr lang="en-US" sz="1000" dirty="0"/>
          </a:p>
        </p:txBody>
      </p:sp>
      <p:sp>
        <p:nvSpPr>
          <p:cNvPr id="13" name="Text 10"/>
          <p:cNvSpPr txBox="1"/>
          <p:nvPr/>
        </p:nvSpPr>
        <p:spPr>
          <a:xfrm>
            <a:off x="2633472" y="4626864"/>
            <a:ext cx="1764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spc="-60" kern="0" dirty="0">
                <a:solidFill>
                  <a:srgbClr val="5B52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3000" dirty="0"/>
          </a:p>
        </p:txBody>
      </p:sp>
      <p:sp>
        <p:nvSpPr>
          <p:cNvPr id="14" name="Text 11"/>
          <p:cNvSpPr txBox="1"/>
          <p:nvPr/>
        </p:nvSpPr>
        <p:spPr>
          <a:xfrm>
            <a:off x="2633472" y="5120640"/>
            <a:ext cx="1764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000" dirty="0">
                <a:solidFill>
                  <a:srgbClr val="8B91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machines awake</a:t>
            </a:r>
            <a:endParaRPr lang="en-US" sz="1000" dirty="0"/>
          </a:p>
        </p:txBody>
      </p:sp>
      <p:sp>
        <p:nvSpPr>
          <p:cNvPr id="15" name="Text 12"/>
          <p:cNvSpPr txBox="1"/>
          <p:nvPr/>
        </p:nvSpPr>
        <p:spPr>
          <a:xfrm>
            <a:off x="4581144" y="4626864"/>
            <a:ext cx="1764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spc="-60" kern="0" dirty="0">
                <a:solidFill>
                  <a:srgbClr val="5B52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3000" dirty="0"/>
          </a:p>
        </p:txBody>
      </p:sp>
      <p:sp>
        <p:nvSpPr>
          <p:cNvPr id="16" name="Text 13"/>
          <p:cNvSpPr txBox="1"/>
          <p:nvPr/>
        </p:nvSpPr>
        <p:spPr>
          <a:xfrm>
            <a:off x="4581144" y="5120640"/>
            <a:ext cx="1764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000" dirty="0">
                <a:solidFill>
                  <a:srgbClr val="8B91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posts a day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20624"/>
            <a:ext cx="1082009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70" kern="0" dirty="0">
                <a:solidFill>
                  <a:srgbClr val="5B52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 ·  FOUR PARTS, ZERO MANUAL STEPS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749808"/>
            <a:ext cx="108200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700" b="1" spc="-30" kern="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Part That Generalizes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6245352"/>
            <a:ext cx="98142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1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 recurring cross-shift task can become an unattended service.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500055" y="624535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B91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/ 12</a:t>
            </a:r>
            <a:endParaRPr lang="en-US" sz="850" dirty="0"/>
          </a:p>
        </p:txBody>
      </p:sp>
      <p:pic>
        <p:nvPicPr>
          <p:cNvPr id="6" name="Image 0" descr="/home/user/nova-handoff/deck/assets/architectu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536192"/>
            <a:ext cx="10820095" cy="2880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85800" y="4645152"/>
            <a:ext cx="10820095" cy="0"/>
          </a:xfrm>
          <a:prstGeom prst="line">
            <a:avLst/>
          </a:prstGeom>
          <a:noFill/>
          <a:ln w="9525">
            <a:solidFill>
              <a:srgbClr val="E5E7EA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85800" y="4846320"/>
            <a:ext cx="52943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70" kern="0" dirty="0">
                <a:solidFill>
                  <a:srgbClr val="5B52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THREE REUSABLE PIECES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685800" y="5175504"/>
            <a:ext cx="529437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A4F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versioned generator, a scheduled cloud routine, and standing connections to the systems of record. Nothing here is QA-specific.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6208776" y="4846320"/>
            <a:ext cx="52943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70" kern="0" dirty="0">
                <a:solidFill>
                  <a:srgbClr val="5B52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REPORT CANNOT SHOW THE WRONG TICKET</a:t>
            </a:r>
            <a:endParaRPr lang="en-US" sz="900" dirty="0"/>
          </a:p>
        </p:txBody>
      </p:sp>
      <p:sp>
        <p:nvSpPr>
          <p:cNvPr id="11" name="Text 8"/>
          <p:cNvSpPr txBox="1"/>
          <p:nvPr/>
        </p:nvSpPr>
        <p:spPr>
          <a:xfrm>
            <a:off x="6208776" y="5175504"/>
            <a:ext cx="529437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A4F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Jira's API occasionally returns a mismatched issue, so the generator cross-checks every ticket key and re-fetches on mismatch.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20624"/>
            <a:ext cx="1082009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70" kern="0" dirty="0">
                <a:solidFill>
                  <a:srgbClr val="5B52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IMPACT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749808"/>
            <a:ext cx="108200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700" b="1" spc="-30" kern="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This Buys Product and Engineering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6245352"/>
            <a:ext cx="98142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1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value accrues to the teams reading the handoff, not to the tool that writes it.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500055" y="624535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B91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 / 12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685800" y="1627632"/>
            <a:ext cx="5294376" cy="2057400"/>
          </a:xfrm>
          <a:prstGeom prst="rect">
            <a:avLst/>
          </a:prstGeom>
          <a:solidFill>
            <a:srgbClr val="F7F8F9"/>
          </a:solidFill>
          <a:ln w="9525">
            <a:solidFill>
              <a:srgbClr val="E5E7E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05840" y="188366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5B52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1005840" y="2194560"/>
            <a:ext cx="46542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same 60-second read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005840" y="2578608"/>
            <a:ext cx="46542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A4F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moving down the pipeline, what has been sitting long enough to warrant attention, and where a module carries regression risk across stages. No status meeting required.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208776" y="1627632"/>
            <a:ext cx="5294376" cy="2057400"/>
          </a:xfrm>
          <a:prstGeom prst="rect">
            <a:avLst/>
          </a:prstGeom>
          <a:solidFill>
            <a:srgbClr val="F7F8F9"/>
          </a:solidFill>
          <a:ln w="9525">
            <a:solidFill>
              <a:srgbClr val="E5E7E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528816" y="188366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5B52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950" dirty="0"/>
          </a:p>
        </p:txBody>
      </p:sp>
      <p:sp>
        <p:nvSpPr>
          <p:cNvPr id="12" name="Text 10"/>
          <p:cNvSpPr txBox="1"/>
          <p:nvPr/>
        </p:nvSpPr>
        <p:spPr>
          <a:xfrm>
            <a:off x="6528816" y="2194560"/>
            <a:ext cx="46542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Status-chasing becomes a link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6528816" y="2578608"/>
            <a:ext cx="46542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A4F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Long-standing tickets surface themselves instead of waiting to be asked about, and the tickets most likely to slip a release are flagged before anyone looks.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85800" y="3913632"/>
            <a:ext cx="5294376" cy="2057400"/>
          </a:xfrm>
          <a:prstGeom prst="rect">
            <a:avLst/>
          </a:prstGeom>
          <a:solidFill>
            <a:srgbClr val="F7F8F9"/>
          </a:solidFill>
          <a:ln w="9525">
            <a:solidFill>
              <a:srgbClr val="E5E7E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005840" y="416966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5B52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950" dirty="0"/>
          </a:p>
        </p:txBody>
      </p:sp>
      <p:sp>
        <p:nvSpPr>
          <p:cNvPr id="16" name="Text 14"/>
          <p:cNvSpPr txBox="1"/>
          <p:nvPr/>
        </p:nvSpPr>
        <p:spPr>
          <a:xfrm>
            <a:off x="1005840" y="4480560"/>
            <a:ext cx="46542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Ramp without adding a meeting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005840" y="4864608"/>
            <a:ext cx="46542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A4F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QA grows, the same view is where a new member picks up work and sees what happened while they were away.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208776" y="3913632"/>
            <a:ext cx="5294376" cy="2057400"/>
          </a:xfrm>
          <a:prstGeom prst="rect">
            <a:avLst/>
          </a:prstGeom>
          <a:solidFill>
            <a:srgbClr val="F7F8F9"/>
          </a:solidFill>
          <a:ln w="9525">
            <a:solidFill>
              <a:srgbClr val="E5E7EA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528816" y="416966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5B52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950" dirty="0"/>
          </a:p>
        </p:txBody>
      </p:sp>
      <p:sp>
        <p:nvSpPr>
          <p:cNvPr id="20" name="Text 18"/>
          <p:cNvSpPr txBox="1"/>
          <p:nvPr/>
        </p:nvSpPr>
        <p:spPr>
          <a:xfrm>
            <a:off x="6528816" y="4480560"/>
            <a:ext cx="46542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pattern, not the tool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6528816" y="4864608"/>
            <a:ext cx="46542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A4F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multi-shift organisation lives or stalls on the quality of its async handoffs. This is the template for the rest of them.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213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20624"/>
            <a:ext cx="1082009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70" kern="0" dirty="0">
                <a:solidFill>
                  <a:srgbClr val="9A93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  ·  THE ONE OPEN DEPENDENCY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749808"/>
            <a:ext cx="108200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700" b="1" spc="-3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Decision Closes the Last Gap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6245352"/>
            <a:ext cx="98142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57B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AMANDA CHAN  ·  POWER DIGITAL MARKETING  ·  2026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10500055" y="624535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57B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 / 12</a:t>
            </a:r>
            <a:endParaRPr lang="en-US" sz="85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1627632"/>
            <a:ext cx="6492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70" kern="0" dirty="0">
                <a:solidFill>
                  <a:srgbClr val="9A93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GAP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1956816"/>
            <a:ext cx="6492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AAAFB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generator runs from a personal GitHub repository — not SOC 2 compliant. The interim mitigation is to omit all PII, and it holds — but it costs the one field the handoff most needs: which developer owns a stall. The incoming shift still returns to the board for it, which is the exact lookup this exists to remove.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85800" y="3401568"/>
            <a:ext cx="6492240" cy="1298448"/>
          </a:xfrm>
          <a:prstGeom prst="rect">
            <a:avLst/>
          </a:prstGeom>
          <a:solidFill>
            <a:srgbClr val="1E1B44"/>
          </a:solidFill>
          <a:ln w="9525">
            <a:solidFill>
              <a:srgbClr val="342E6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60120" y="3621024"/>
            <a:ext cx="5943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70" kern="0" dirty="0">
                <a:solidFill>
                  <a:srgbClr val="9A93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ASK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960120" y="3913632"/>
            <a:ext cx="5943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Land the GitHub Enterprise migration (owned by Anton). Attribution goes back in and the last manual lookup disappears.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7680960" y="1627632"/>
            <a:ext cx="38221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70" kern="0" dirty="0">
                <a:solidFill>
                  <a:srgbClr val="757B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ALREADY CONTROLLED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7680960" y="1993392"/>
            <a:ext cx="38221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integrity</a:t>
            </a:r>
            <a:pPr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AAAFB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every ticket key cross-checked, re-fetched on mismatch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680960" y="2578608"/>
            <a:ext cx="3822192" cy="0"/>
          </a:xfrm>
          <a:prstGeom prst="line">
            <a:avLst/>
          </a:prstGeom>
          <a:noFill/>
          <a:ln w="9525">
            <a:solidFill>
              <a:srgbClr val="31343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680960" y="2688336"/>
            <a:ext cx="38221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Connection drift</a:t>
            </a:r>
            <a:pPr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AAAFB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standing Jira and Slack auth — administrative, owned with IT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680960" y="3273552"/>
            <a:ext cx="3822192" cy="0"/>
          </a:xfrm>
          <a:prstGeom prst="line">
            <a:avLst/>
          </a:prstGeom>
          <a:noFill/>
          <a:ln w="9525">
            <a:solidFill>
              <a:srgbClr val="31343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680960" y="3383280"/>
            <a:ext cx="38221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 creep</a:t>
            </a:r>
            <a:pPr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AAAFB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changes-first by design; a 60-second read gets opened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680960" y="3968496"/>
            <a:ext cx="3822192" cy="0"/>
          </a:xfrm>
          <a:prstGeom prst="line">
            <a:avLst/>
          </a:prstGeom>
          <a:noFill/>
          <a:ln w="9525">
            <a:solidFill>
              <a:srgbClr val="31343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680960" y="4078224"/>
            <a:ext cx="38221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Ownership</a:t>
            </a:r>
            <a:pPr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AAAFB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start-of-shift ownership convention ships with the rollout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85800" y="5138928"/>
            <a:ext cx="10820095" cy="0"/>
          </a:xfrm>
          <a:prstGeom prst="line">
            <a:avLst/>
          </a:prstGeom>
          <a:noFill/>
          <a:ln w="9525">
            <a:solidFill>
              <a:srgbClr val="31343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85800" y="5376672"/>
            <a:ext cx="108200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spc="-3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Handoff stopped being a communication problem the moment it became a delivery one.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Power Digital Marketing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Handoff That Needs No One Awake</dc:title>
  <dc:subject>PptxGenJS Presentation</dc:subject>
  <dc:creator>Amanda Chan</dc:creator>
  <cp:lastModifiedBy>Amanda Chan</cp:lastModifiedBy>
  <cp:revision>1</cp:revision>
  <dcterms:created xsi:type="dcterms:W3CDTF">2026-08-26T15:12:51Z</dcterms:created>
  <dcterms:modified xsi:type="dcterms:W3CDTF">2026-08-26T15:12:51Z</dcterms:modified>
</cp:coreProperties>
</file>